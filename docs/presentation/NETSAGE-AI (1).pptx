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Display SemiBold"/>
      <p:regular r:id="rId201316"/>
    </p:embeddedFont>
    <p:embeddedFont>
      <p:font typeface="Funnel Sans Bold"/>
      <p:regular r:id="rId201317"/>
    </p:embeddedFont>
    <p:embeddedFont>
      <p:font typeface="Funnel Sans"/>
      <p:regular r:id="rId201318"/>
    </p:embeddedFont>
    <p:embeddedFont>
      <p:font typeface="Funnel Sans Semi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06196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NETSAGE AI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2728416"/>
            <a:ext cx="622363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AI-Powered Cisco Packet Tracer Troubleshooting Assistant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69971" y="3614142"/>
            <a:ext cx="6223638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Tagline: 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i="1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Diagnose. Validate. Resolve. Learn.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Presented by: NetSage AI Team — Technology: React | FastAPI | Python | Cisco Packet Tracer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084957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Problem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98086" y="1853505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Network troubleshooting in Cisco Packet Tracer is time-consuming and challenging for learners:   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086" y="2716213"/>
            <a:ext cx="6223638" cy="251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Root-cause identification from symptoms is difficult.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Cisco CLI output can be dense and hard to interpret.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Beginners rely on trial-and-error and don’t know which command to run next.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Troubleshooting spans multiple OSI layers and protocols without a structured workflow.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 built-in method to validate or verify recommended fixes.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8086" y="545385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Common trouble areas: VLAN · OSPF · DHCP · DNS · ACL · NAT · Wireless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22498"/>
            <a:ext cx="6223638" cy="34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spc="-2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Introducing NetSage AI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269971" y="1128415"/>
            <a:ext cx="622363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NetSage AI converts symptoms, Cisco CLI evidence and topology notes into a structured, explainable troubleshooting workflow — accelerating diagnosis while preserving human oversight.   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9971" y="1655564"/>
            <a:ext cx="366207" cy="366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69971" y="2156222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269971" y="2436118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Symptoms, CLI output, topology context, fault category.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854325"/>
            <a:ext cx="366207" cy="3662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69971" y="3354983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NetSage Engine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269971" y="3634879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Diagnostic reasoning + deterministic rule validation.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4053086"/>
            <a:ext cx="366207" cy="3662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69971" y="4553744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Output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269971" y="4833640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Root cause, evidence, verification &amp; remediation commands.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9971" y="5251847"/>
            <a:ext cx="366207" cy="3662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69971" y="5752505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3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5269971" y="6032401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spc="-2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Accept · Edit · Reject — creates auditable records.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40085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Troubleshooting Workflow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98086" y="1608634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Streamlined process designed for clarity and repeatability:   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2152154"/>
            <a:ext cx="6223638" cy="26838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6848" y="4332256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Topology Context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16848" y="3710984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Cisco CLI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16848" y="3095988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Enter Symptoms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16848" y="2474716"/>
            <a:ext cx="1328798" cy="166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spc="-3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Network Problem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98086" y="5060355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Final output includes: Root Cause, Confidence, Severity, OSI Layer, Evidence, Verification command, Remediation commands, Step‑by‑step guide.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9104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9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399778"/>
            <a:ext cx="557595" cy="344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4751" y="1399778"/>
            <a:ext cx="175791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Smart Diagnosis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474751" y="1779984"/>
            <a:ext cx="1757914" cy="144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Probabilistic identification of likely configuration faults with ranked hypotheses.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734" y="1399778"/>
            <a:ext cx="557595" cy="3445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8399" y="1399778"/>
            <a:ext cx="1757914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Evidence‑Based Results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228399" y="2055019"/>
            <a:ext cx="1757914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Explicit CLI excerpts tied to each diagnosis for auditability and teaching moments.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382" y="1399778"/>
            <a:ext cx="557595" cy="3445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2047" y="1399778"/>
            <a:ext cx="175791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Rule Validation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982047" y="1779984"/>
            <a:ext cx="1757914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Deterministic checks confirm whether remediation steps resolve the issue.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031" y="1399778"/>
            <a:ext cx="557595" cy="3445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35696" y="1399778"/>
            <a:ext cx="1757914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Cisco IOS Guidance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9735696" y="2055019"/>
            <a:ext cx="1757914" cy="173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Verification and remediation command snippets formatted for immediate use in Packet Tracer.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4144566"/>
            <a:ext cx="557595" cy="34458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74751" y="4144566"/>
            <a:ext cx="1757914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1474751" y="4799806"/>
            <a:ext cx="1757914" cy="115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Reviewer workflow to Accept, Edit or Reject — keeps experts in control.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734" y="4144566"/>
            <a:ext cx="557595" cy="34458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28399" y="4144566"/>
            <a:ext cx="1757914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History &amp; Analytics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4228399" y="4799806"/>
            <a:ext cx="1757914" cy="144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Searchable diagnostic history and dashboards for pattern discovery and pedagogy.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20018"/>
            <a:ext cx="6223638" cy="39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Supported Network Problems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269971" y="1229023"/>
            <a:ext cx="6223638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NetSage AI targets common Packet Tracer scenarios across protocol domains and OSI layers:   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269971" y="2027039"/>
            <a:ext cx="290654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Areas &amp; Example Faults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269971" y="2416572"/>
            <a:ext cx="2906541" cy="3771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VLAN — mismatch, access/trunk misconfig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OSPF — adjacency failures, area/type mismatch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DHCP — pool exhaustion, binding issues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DNS — resolution failures, misconfigured servers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ACL — unintended blocks, ordering mistakes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NAT — translation failures, incorrect interfaces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Wireless — authentication and association problems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3419" y="2027039"/>
            <a:ext cx="2906541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Troubleshooting Commands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593419" y="2416572"/>
            <a:ext cx="2906541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    Common verification commands NetSage highlights:       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3419" y="3040658"/>
            <a:ext cx="2906541" cy="1736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show vlan brief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show interfaces trunk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show ip ospf neighbor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show ip dhcp binding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show access-lists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show ip nat translations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72505"/>
            <a:ext cx="6223638" cy="39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269971" y="1281509"/>
            <a:ext cx="6833223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Purpose-built, full‑stack architecture for interactive diagnosis and audit:   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69971" y="1689398"/>
            <a:ext cx="6223638" cy="955477"/>
          </a:xfrm>
          <a:prstGeom prst="roundRect">
            <a:avLst>
              <a:gd name="adj" fmla="val 7398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57292" y="1876723"/>
            <a:ext cx="584899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Frontend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57292" y="2209403"/>
            <a:ext cx="584899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React 19, Vite, Tailwind — dashboard, input forms, review workflows.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69971" y="2786856"/>
            <a:ext cx="6223638" cy="955477"/>
          </a:xfrm>
          <a:prstGeom prst="roundRect">
            <a:avLst>
              <a:gd name="adj" fmla="val 7398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7292" y="2974181"/>
            <a:ext cx="584899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API Layer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457292" y="3306862"/>
            <a:ext cx="584899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FastAPI + Uvicorn — diagnosis routing, validation, history APIs.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69971" y="3884315"/>
            <a:ext cx="6223638" cy="955477"/>
          </a:xfrm>
          <a:prstGeom prst="roundRect">
            <a:avLst>
              <a:gd name="adj" fmla="val 7398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57292" y="4071640"/>
            <a:ext cx="584899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Diagnostic Services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57292" y="4404320"/>
            <a:ext cx="5848997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Rule validation engine, evidence extractor, CLI parsers, LLM components (future).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69971" y="4981773"/>
            <a:ext cx="6223638" cy="1203623"/>
          </a:xfrm>
          <a:prstGeom prst="roundRect">
            <a:avLst>
              <a:gd name="adj" fmla="val 5873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57292" y="5169098"/>
            <a:ext cx="584899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Persistence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457292" y="5501779"/>
            <a:ext cx="5848997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JSON-based records for rapid prototyping; extensible to databases for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07219"/>
            <a:ext cx="6223638" cy="432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29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Human‑in‑the‑Loop &amp; Explainability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98086" y="1294209"/>
            <a:ext cx="6223638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NetSage blends automated reasoning with expert review to build trust and provenance.   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3748584"/>
            <a:ext cx="2220262" cy="803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1172" y="4358126"/>
            <a:ext cx="523387" cy="65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" spc="-1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Auditable Record</a:t>
            </a:r>
            <a:endParaRPr lang="en-US" sz="400" dirty="0"/>
          </a:p>
        </p:txBody>
      </p:sp>
      <p:sp>
        <p:nvSpPr>
          <p:cNvPr id="7" name="Text 3"/>
          <p:cNvSpPr/>
          <p:nvPr/>
        </p:nvSpPr>
        <p:spPr>
          <a:xfrm>
            <a:off x="861172" y="4115891"/>
            <a:ext cx="523387" cy="65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" spc="-1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Human Reviewer</a:t>
            </a:r>
            <a:endParaRPr lang="en-US" sz="400" dirty="0"/>
          </a:p>
        </p:txBody>
      </p:sp>
      <p:sp>
        <p:nvSpPr>
          <p:cNvPr id="8" name="Text 4"/>
          <p:cNvSpPr/>
          <p:nvPr/>
        </p:nvSpPr>
        <p:spPr>
          <a:xfrm>
            <a:off x="861172" y="3871185"/>
            <a:ext cx="523387" cy="65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" spc="-1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AI Diagnosis</a:t>
            </a:r>
            <a:endParaRPr lang="en-US" sz="400" dirty="0"/>
          </a:p>
        </p:txBody>
      </p:sp>
      <p:sp>
        <p:nvSpPr>
          <p:cNvPr id="9" name="Text 5"/>
          <p:cNvSpPr/>
          <p:nvPr/>
        </p:nvSpPr>
        <p:spPr>
          <a:xfrm>
            <a:off x="3373353" y="2219523"/>
            <a:ext cx="3554720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human review matters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373353" y="2659459"/>
            <a:ext cx="3554720" cy="243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Validates AI recommendations before any config changes.</a:t>
            </a:r>
            <a:endParaRPr lang="en-US" sz="1400" dirty="0"/>
          </a:p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Prevents unsafe or inappropriate actions on devices.</a:t>
            </a:r>
            <a:endParaRPr lang="en-US" sz="1400" dirty="0"/>
          </a:p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Provides expert feedback that improves future diagnoses.</a:t>
            </a:r>
            <a:endParaRPr lang="en-US" sz="1400" dirty="0"/>
          </a:p>
          <a:p>
            <a:pPr algn="l" marL="284480" indent="-284480">
              <a:lnSpc>
                <a:spcPct val="128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Creates auditable records for training and compliance.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73353" y="5250557"/>
            <a:ext cx="355472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Every diagnosis documents: Root Cause → Evidence → Validation checks → Verification command → Remediation steps.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68226"/>
            <a:ext cx="6223638" cy="39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Results &amp; Impact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98086" y="1177230"/>
            <a:ext cx="19050" cy="4102596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5" name="Shape 2"/>
          <p:cNvSpPr/>
          <p:nvPr/>
        </p:nvSpPr>
        <p:spPr>
          <a:xfrm>
            <a:off x="717135" y="1177230"/>
            <a:ext cx="6223638" cy="1178223"/>
          </a:xfrm>
          <a:custGeom>
            <a:avLst/>
            <a:gdLst/>
            <a:ahLst/>
            <a:cxnLst/>
            <a:rect l="l" t="t" r="r" b="b"/>
            <a:pathLst>
              <a:path w="6223638" h="1178223">
                <a:moveTo>
                  <a:pt x="0" y="0"/>
                </a:moveTo>
                <a:lnTo>
                  <a:pt x="6164729" y="0"/>
                </a:lnTo>
                <a:arcTo hR="58910" wR="58909" stAng="16200000" swAng="5400000"/>
                <a:lnTo>
                  <a:pt x="6223638" y="1119312"/>
                </a:lnTo>
                <a:arcTo hR="58910" wR="58909" stAng="0" swAng="5400000"/>
                <a:lnTo>
                  <a:pt x="0" y="1178223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5406" y="1351855"/>
            <a:ext cx="588074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Students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85406" y="1684536"/>
            <a:ext cx="5880747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Guided troubleshooting, faster learning curve, clearer understanding of Cisco IOS commands.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7135" y="2639417"/>
            <a:ext cx="6223638" cy="1178223"/>
          </a:xfrm>
          <a:custGeom>
            <a:avLst/>
            <a:gdLst/>
            <a:ahLst/>
            <a:cxnLst/>
            <a:rect l="l" t="t" r="r" b="b"/>
            <a:pathLst>
              <a:path w="6223638" h="1178223">
                <a:moveTo>
                  <a:pt x="0" y="0"/>
                </a:moveTo>
                <a:lnTo>
                  <a:pt x="6164729" y="0"/>
                </a:lnTo>
                <a:arcTo hR="58910" wR="58909" stAng="16200000" swAng="5400000"/>
                <a:lnTo>
                  <a:pt x="6223638" y="1119312"/>
                </a:lnTo>
                <a:arcTo hR="58910" wR="58909" stAng="0" swAng="5400000"/>
                <a:lnTo>
                  <a:pt x="0" y="1178223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5406" y="2814042"/>
            <a:ext cx="588074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Trainers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85406" y="3146723"/>
            <a:ext cx="5880747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student work, identify repeating mistakes, tailor lessons to common faults.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7135" y="4101604"/>
            <a:ext cx="6223638" cy="1178223"/>
          </a:xfrm>
          <a:custGeom>
            <a:avLst/>
            <a:gdLst/>
            <a:ahLst/>
            <a:cxnLst/>
            <a:rect l="l" t="t" r="r" b="b"/>
            <a:pathLst>
              <a:path w="6223638" h="1178223">
                <a:moveTo>
                  <a:pt x="0" y="0"/>
                </a:moveTo>
                <a:lnTo>
                  <a:pt x="6164729" y="0"/>
                </a:lnTo>
                <a:arcTo hR="58910" wR="58909" stAng="16200000" swAng="5400000"/>
                <a:lnTo>
                  <a:pt x="6223638" y="1119312"/>
                </a:lnTo>
                <a:arcTo hR="58910" wR="58909" stAng="0" swAng="5400000"/>
                <a:lnTo>
                  <a:pt x="0" y="1178223"/>
                </a:lnTo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5406" y="4276229"/>
            <a:ext cx="5880747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Network Engineers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85406" y="4608909"/>
            <a:ext cx="5880747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Faster triage, evidence-based recommendations, searchable historical cases for reference.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8086" y="5439569"/>
            <a:ext cx="6223638" cy="850205"/>
          </a:xfrm>
          <a:prstGeom prst="roundRect">
            <a:avLst>
              <a:gd name="adj" fmla="val 8315"/>
            </a:avLst>
          </a:prstGeom>
          <a:solidFill>
            <a:srgbClr val="D8E7F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56" y="5647829"/>
            <a:ext cx="210338" cy="1682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44966" y="5623620"/>
            <a:ext cx="5508487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Impact summary: Faster troubleshooting · Better learning outcomes · Explainable, auditable recommendations · Human oversight retained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582613"/>
            <a:ext cx="6223638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29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Scope &amp; 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69971" y="1460897"/>
            <a:ext cx="28837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Planned Enhancements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269971" y="1911251"/>
            <a:ext cx="2883721" cy="430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LLM-assisted network analysis for richer natural-language diagnostics.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Packet Tracer topology file parsing and automated evidence extraction.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Production-grade storage, authentication and role-based access.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collaboration, PDF reports and ticketing integration.</a:t>
            </a:r>
            <a:endParaRPr lang="en-US" sz="1450" dirty="0"/>
          </a:p>
          <a:p>
            <a:pPr algn="l" marL="294640" indent="-294640">
              <a:lnSpc>
                <a:spcPct val="129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Cloud deployment with CI/CD and scalable services.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6238" y="1460897"/>
            <a:ext cx="28837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29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16238" y="1911251"/>
            <a:ext cx="2883721" cy="276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200"/>
              </a:spcAft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        NetSage AI transforms trial‑and‑error Packet Tracer troubleshooting into a guided, explainable and auditable workflow. Diagnose smarter, troubleshoot faster, and learn better.       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spc="-29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Next step: pilot deployment with instructors and lab classes to refine rules, UX and case coverage.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2026-09-07T14:59:37Z</dcterms:created>
  <dcterms:modified xsi:type="dcterms:W3CDTF">2026-09-07T14:59:37Z</dcterms:modified>
</cp:coreProperties>
</file>